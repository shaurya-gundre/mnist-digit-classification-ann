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Helvetica World" panose="020B0604020202020204" charset="-128"/>
      <p:regular r:id="rId15"/>
    </p:embeddedFont>
    <p:embeddedFont>
      <p:font typeface="Norwester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5400000">
            <a:off x="-358858" y="4907320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-5400000" flipV="1">
            <a:off x="15399382" y="4907320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028700" y="9053909"/>
            <a:ext cx="263267" cy="204391"/>
          </a:xfrm>
          <a:custGeom>
            <a:avLst/>
            <a:gdLst/>
            <a:ahLst/>
            <a:cxnLst/>
            <a:rect l="l" t="t" r="r" b="b"/>
            <a:pathLst>
              <a:path w="263267" h="204391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flipH="1">
            <a:off x="16996033" y="9053909"/>
            <a:ext cx="263267" cy="204391"/>
          </a:xfrm>
          <a:custGeom>
            <a:avLst/>
            <a:gdLst/>
            <a:ahLst/>
            <a:cxnLst/>
            <a:rect l="l" t="t" r="r" b="b"/>
            <a:pathLst>
              <a:path w="263267" h="204391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028700" y="1028700"/>
            <a:ext cx="1337383" cy="1157444"/>
          </a:xfrm>
          <a:custGeom>
            <a:avLst/>
            <a:gdLst/>
            <a:ahLst/>
            <a:cxnLst/>
            <a:rect l="l" t="t" r="r" b="b"/>
            <a:pathLst>
              <a:path w="1337383" h="1157444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2835963" y="2791883"/>
            <a:ext cx="12616074" cy="264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8000" spc="-392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MNIST DIGIT CLASSIFICATION USING ARTIFICIAL NEURAL NETWORK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15921917" y="1048018"/>
            <a:ext cx="1337383" cy="1157444"/>
          </a:xfrm>
          <a:custGeom>
            <a:avLst/>
            <a:gdLst/>
            <a:ahLst/>
            <a:cxnLst/>
            <a:rect l="l" t="t" r="r" b="b"/>
            <a:pathLst>
              <a:path w="1337383" h="1157444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697391" y="6667500"/>
            <a:ext cx="6444655" cy="3913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2"/>
              </a:lnSpc>
            </a:pPr>
            <a:r>
              <a:rPr lang="en-US" sz="2000" spc="-102" dirty="0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SUBMITTED BY:</a:t>
            </a:r>
          </a:p>
          <a:p>
            <a:pPr algn="just">
              <a:lnSpc>
                <a:spcPts val="2772"/>
              </a:lnSpc>
            </a:pPr>
            <a:r>
              <a:rPr lang="en-US" sz="2000" spc="-102" dirty="0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                Shaurya Rajesh Gundre</a:t>
            </a:r>
          </a:p>
          <a:p>
            <a:pPr algn="just">
              <a:lnSpc>
                <a:spcPts val="2772"/>
              </a:lnSpc>
            </a:pPr>
            <a:endParaRPr lang="en-US" sz="2000" spc="-102" dirty="0">
              <a:solidFill>
                <a:srgbClr val="38B6FF"/>
              </a:solidFill>
              <a:latin typeface="Norwester"/>
              <a:ea typeface="Norwester"/>
              <a:cs typeface="Norwester"/>
              <a:sym typeface="Norwester"/>
            </a:endParaRPr>
          </a:p>
          <a:p>
            <a:pPr algn="just">
              <a:lnSpc>
                <a:spcPts val="2772"/>
              </a:lnSpc>
              <a:spcBef>
                <a:spcPct val="0"/>
              </a:spcBef>
            </a:pPr>
            <a:r>
              <a:rPr lang="en-US" sz="2000" spc="-102" dirty="0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COURSE: </a:t>
            </a:r>
          </a:p>
          <a:p>
            <a:pPr algn="just">
              <a:lnSpc>
                <a:spcPts val="2772"/>
              </a:lnSpc>
              <a:spcBef>
                <a:spcPct val="0"/>
              </a:spcBef>
            </a:pPr>
            <a:r>
              <a:rPr lang="en-US" sz="2000" spc="-102" dirty="0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        ARTIFICIAL INTELLIGENCE</a:t>
            </a:r>
          </a:p>
          <a:p>
            <a:pPr algn="ctr">
              <a:lnSpc>
                <a:spcPts val="2772"/>
              </a:lnSpc>
              <a:spcBef>
                <a:spcPct val="0"/>
              </a:spcBef>
            </a:pPr>
            <a:r>
              <a:rPr lang="en-US" sz="2000" spc="-102" dirty="0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        K.K. WAGH INSTITUTE OF ENGINEERING EDUCATION AND           RESEARCH</a:t>
            </a:r>
          </a:p>
          <a:p>
            <a:pPr algn="just">
              <a:lnSpc>
                <a:spcPts val="2772"/>
              </a:lnSpc>
              <a:spcBef>
                <a:spcPct val="0"/>
              </a:spcBef>
            </a:pPr>
            <a:endParaRPr lang="en-US" sz="2000" spc="-102" dirty="0">
              <a:solidFill>
                <a:srgbClr val="38B6FF"/>
              </a:solidFill>
              <a:latin typeface="Norwester"/>
              <a:ea typeface="Norwester"/>
              <a:cs typeface="Norwester"/>
              <a:sym typeface="Norwester"/>
            </a:endParaRPr>
          </a:p>
          <a:p>
            <a:pPr algn="just">
              <a:lnSpc>
                <a:spcPts val="2772"/>
              </a:lnSpc>
              <a:spcBef>
                <a:spcPct val="0"/>
              </a:spcBef>
            </a:pPr>
            <a:r>
              <a:rPr lang="en-US" sz="2000" spc="-102" dirty="0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SUBMITTED TO:</a:t>
            </a:r>
          </a:p>
          <a:p>
            <a:pPr algn="just">
              <a:lnSpc>
                <a:spcPts val="2772"/>
              </a:lnSpc>
              <a:spcBef>
                <a:spcPct val="0"/>
              </a:spcBef>
            </a:pPr>
            <a:r>
              <a:rPr lang="en-US" sz="2000" spc="-102" dirty="0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           NAVOITECH SOLUTION PVT LTD</a:t>
            </a:r>
          </a:p>
          <a:p>
            <a:pPr algn="just">
              <a:lnSpc>
                <a:spcPts val="2772"/>
              </a:lnSpc>
              <a:spcBef>
                <a:spcPct val="0"/>
              </a:spcBef>
            </a:pPr>
            <a:endParaRPr lang="en-US" sz="2100" spc="-102" dirty="0">
              <a:solidFill>
                <a:srgbClr val="38B6FF"/>
              </a:solidFill>
              <a:latin typeface="Norwester"/>
              <a:ea typeface="Norwester"/>
              <a:cs typeface="Norwester"/>
              <a:sym typeface="Norwes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V="1">
            <a:off x="14011825" y="1028700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V="1">
            <a:off x="8317705" y="1028700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998459" y="2315753"/>
            <a:ext cx="6638493" cy="1482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79"/>
              </a:lnSpc>
            </a:pPr>
            <a:r>
              <a:rPr lang="en-US" sz="8999" spc="-440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5395" y="4550229"/>
            <a:ext cx="7666127" cy="312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Machine Learning and Deep Learning are widely used in image recognition.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Image classification is an important task in computer vision.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project focuses on classifying handwritten digits (0–9).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MNIST dataset is used as a benchmark dataset.</a:t>
            </a:r>
          </a:p>
          <a:p>
            <a:pPr algn="l">
              <a:lnSpc>
                <a:spcPts val="2079"/>
              </a:lnSpc>
            </a:pPr>
            <a:endParaRPr lang="en-US" sz="2499" spc="-74" dirty="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pic>
        <p:nvPicPr>
          <p:cNvPr id="1026" name="Picture 2" descr="Sample Handwritten Digit">
            <a:extLst>
              <a:ext uri="{FF2B5EF4-FFF2-40B4-BE49-F238E27FC236}">
                <a16:creationId xmlns:a16="http://schemas.microsoft.com/office/drawing/2014/main" id="{A5C2938D-9756-A775-5229-16BD5A4A6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2069" y="4000500"/>
            <a:ext cx="3988993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5400000" flipV="1">
            <a:off x="9092049" y="7398382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2549818"/>
            <a:ext cx="6465880" cy="5366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80"/>
              </a:lnSpc>
            </a:pPr>
            <a:r>
              <a:rPr lang="en-US" sz="9000" spc="-4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OBJECTIVE</a:t>
            </a:r>
          </a:p>
          <a:p>
            <a:pPr algn="l">
              <a:lnSpc>
                <a:spcPts val="15428"/>
              </a:lnSpc>
            </a:pPr>
            <a:endParaRPr lang="en-US" sz="9000" spc="-441">
              <a:solidFill>
                <a:srgbClr val="38B6FF"/>
              </a:solidFill>
              <a:latin typeface="Norwester"/>
              <a:ea typeface="Norwester"/>
              <a:cs typeface="Norwester"/>
              <a:sym typeface="Norwester"/>
            </a:endParaRPr>
          </a:p>
          <a:p>
            <a:pPr algn="l">
              <a:lnSpc>
                <a:spcPts val="15428"/>
              </a:lnSpc>
            </a:pPr>
            <a:endParaRPr lang="en-US" sz="9000" spc="-441">
              <a:solidFill>
                <a:srgbClr val="38B6FF"/>
              </a:solidFill>
              <a:latin typeface="Norwester"/>
              <a:ea typeface="Norwester"/>
              <a:cs typeface="Norwester"/>
              <a:sym typeface="Norweste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19027" y="4769400"/>
            <a:ext cx="6885225" cy="245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understand image classification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preprocess image data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build an Artificial Neural Network (ANN)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train and evaluate the model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achieve high accuracy on test data</a:t>
            </a:r>
          </a:p>
          <a:p>
            <a:pPr algn="l">
              <a:lnSpc>
                <a:spcPts val="3249"/>
              </a:lnSpc>
            </a:pPr>
            <a:endParaRPr lang="en-US" sz="2499" spc="-74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40973" y="3044088"/>
            <a:ext cx="5248357" cy="2987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80"/>
              </a:lnSpc>
            </a:pPr>
            <a:r>
              <a:rPr lang="en-US" sz="9000" spc="-4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DATASET DESCRIPTION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2898" y="7706995"/>
            <a:ext cx="3622399" cy="815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497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Dataset: MNIST Handwritten Digits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26322" y="7706995"/>
            <a:ext cx="3626130" cy="1336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60,000 training images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10,000 testing images</a:t>
            </a:r>
          </a:p>
          <a:p>
            <a:pPr algn="l">
              <a:lnSpc>
                <a:spcPts val="2079"/>
              </a:lnSpc>
            </a:pPr>
            <a:endParaRPr lang="en-US" sz="2499" spc="-74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2079"/>
              </a:lnSpc>
            </a:pPr>
            <a:endParaRPr lang="en-US" sz="2499" spc="-74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429746" y="7706995"/>
            <a:ext cx="3626130" cy="163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Image size: 28 × 28 pixels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Grayscale images</a:t>
            </a:r>
          </a:p>
          <a:p>
            <a:pPr algn="l">
              <a:lnSpc>
                <a:spcPts val="3249"/>
              </a:lnSpc>
            </a:pPr>
            <a:endParaRPr lang="en-US" sz="2499" spc="-74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633170" y="7706995"/>
            <a:ext cx="3626130" cy="926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 classes (digits 0–9)</a:t>
            </a:r>
          </a:p>
          <a:p>
            <a:pPr algn="l">
              <a:lnSpc>
                <a:spcPts val="2079"/>
              </a:lnSpc>
            </a:pPr>
            <a:endParaRPr lang="en-US" sz="2499" spc="-74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2079"/>
              </a:lnSpc>
            </a:pPr>
            <a:endParaRPr lang="en-US" sz="2499" spc="-74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pic>
        <p:nvPicPr>
          <p:cNvPr id="2050" name="Picture 2" descr="Visualization">
            <a:extLst>
              <a:ext uri="{FF2B5EF4-FFF2-40B4-BE49-F238E27FC236}">
                <a16:creationId xmlns:a16="http://schemas.microsoft.com/office/drawing/2014/main" id="{7E66472D-1634-9841-1D9B-F2EB66AD8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9265" y="1943100"/>
            <a:ext cx="4597460" cy="461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V="1">
            <a:off x="8661676" y="8785940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3129120" y="914400"/>
            <a:ext cx="14312587" cy="148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80"/>
              </a:lnSpc>
            </a:pPr>
            <a:r>
              <a:rPr lang="en-US" sz="9000" spc="-4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 TOOLS &amp; TECHNOLOGIES USED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30935" y="3084874"/>
            <a:ext cx="3626130" cy="312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Python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Google Colab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NumPy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Matplotlib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TensorFlow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Keras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Scikit-learn</a:t>
            </a:r>
          </a:p>
          <a:p>
            <a:pPr algn="l">
              <a:lnSpc>
                <a:spcPts val="2079"/>
              </a:lnSpc>
            </a:pPr>
            <a:endParaRPr lang="en-US" sz="2499" spc="-74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V="1">
            <a:off x="8827421" y="7638812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6929226" y="914400"/>
            <a:ext cx="10330074" cy="148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80"/>
              </a:lnSpc>
            </a:pPr>
            <a:r>
              <a:rPr lang="en-US" sz="9000" spc="-4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DATA PREPROCESSING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91357" y="3647202"/>
            <a:ext cx="3919603" cy="3991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Pixel values ranged from 0 to 255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Normalized by dividing by 255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Converted images into flattened vectors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Dataset already divided into training and testing sets</a:t>
            </a:r>
          </a:p>
          <a:p>
            <a:pPr algn="l">
              <a:lnSpc>
                <a:spcPts val="2469"/>
              </a:lnSpc>
            </a:pPr>
            <a:endParaRPr lang="en-US" sz="2499" spc="-74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5400000" flipV="1">
            <a:off x="15399382" y="7398382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40973" y="2498666"/>
            <a:ext cx="6592155" cy="2987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80"/>
              </a:lnSpc>
            </a:pPr>
            <a:r>
              <a:rPr lang="en-US" sz="9000" spc="-4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MODEL</a:t>
            </a:r>
          </a:p>
          <a:p>
            <a:pPr algn="l">
              <a:lnSpc>
                <a:spcPts val="11880"/>
              </a:lnSpc>
            </a:pPr>
            <a:r>
              <a:rPr lang="en-US" sz="9000" spc="-4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421120"/>
            <a:ext cx="6604428" cy="286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Artificial Neural Network (Sequential Model)</a:t>
            </a:r>
          </a:p>
          <a:p>
            <a:pPr algn="l">
              <a:lnSpc>
                <a:spcPts val="3249"/>
              </a:lnSpc>
            </a:pPr>
            <a:endParaRPr lang="en-US" sz="2499" spc="-74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3249"/>
              </a:lnSpc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Layers: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Flatten Layer (28×28 → 784 neurons)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Dense Layer (128 neurons, ReLU)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Output Layer (10 neurons, Softmax)</a:t>
            </a:r>
          </a:p>
          <a:p>
            <a:pPr algn="l">
              <a:lnSpc>
                <a:spcPts val="3249"/>
              </a:lnSpc>
            </a:pPr>
            <a:endParaRPr lang="en-US" sz="2499" spc="-74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9653B1-6053-7406-C946-A775F3F25C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0091" y="2498666"/>
            <a:ext cx="7543800" cy="67863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V="1">
            <a:off x="1028700" y="5896105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40973" y="1935049"/>
            <a:ext cx="6592155" cy="2987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80"/>
              </a:lnSpc>
            </a:pPr>
            <a:r>
              <a:rPr lang="en-US" sz="9000" spc="-4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MODEL TRAINING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40973" y="6716122"/>
            <a:ext cx="5511855" cy="286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Optimizer: Adam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Loss: Sparse Categorical Crossentropy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Epochs: 5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Validation Split: 10%</a:t>
            </a:r>
          </a:p>
          <a:p>
            <a:pPr marL="539743" lvl="1" indent="-269871" algn="l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Accuracy improved across epochs</a:t>
            </a:r>
          </a:p>
          <a:p>
            <a:pPr algn="l">
              <a:lnSpc>
                <a:spcPts val="3249"/>
              </a:lnSpc>
            </a:pPr>
            <a:endParaRPr lang="en-US" sz="2499" spc="-74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flipV="1">
            <a:off x="14011825" y="8773668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3016552"/>
            <a:ext cx="6424029" cy="530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0"/>
              </a:lnSpc>
            </a:pPr>
            <a:r>
              <a:rPr lang="en-US" sz="9000" spc="-4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MODEL EVALUATION</a:t>
            </a:r>
          </a:p>
          <a:p>
            <a:pPr algn="l">
              <a:lnSpc>
                <a:spcPts val="12294"/>
              </a:lnSpc>
            </a:pPr>
            <a:endParaRPr lang="en-US" sz="9000" spc="-441">
              <a:solidFill>
                <a:srgbClr val="38B6FF"/>
              </a:solidFill>
              <a:latin typeface="Norwester"/>
              <a:ea typeface="Norwester"/>
              <a:cs typeface="Norwester"/>
              <a:sym typeface="Norwester"/>
            </a:endParaRPr>
          </a:p>
          <a:p>
            <a:pPr algn="l">
              <a:lnSpc>
                <a:spcPts val="12294"/>
              </a:lnSpc>
            </a:pPr>
            <a:endParaRPr lang="en-US" sz="9000" spc="-441">
              <a:solidFill>
                <a:srgbClr val="38B6FF"/>
              </a:solidFill>
              <a:latin typeface="Norwester"/>
              <a:ea typeface="Norwester"/>
              <a:cs typeface="Norwester"/>
              <a:sym typeface="Norweste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5873665"/>
            <a:ext cx="5278735" cy="2029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2772" lvl="1" indent="-342900" algn="ctr">
              <a:lnSpc>
                <a:spcPts val="324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99" spc="-74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Test Accuracy Achieved: </a:t>
            </a:r>
            <a:r>
              <a:rPr lang="en-US" sz="3600" b="1" spc="-74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97.8%</a:t>
            </a:r>
          </a:p>
          <a:p>
            <a:pPr marL="612772" lvl="1" indent="-342900" algn="ctr">
              <a:lnSpc>
                <a:spcPts val="324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99" spc="-74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correctly classifies most digits</a:t>
            </a:r>
          </a:p>
          <a:p>
            <a:pPr marL="612772" lvl="1" indent="-342900" algn="ctr">
              <a:lnSpc>
                <a:spcPts val="324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99" spc="-74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Low error rate observed</a:t>
            </a:r>
          </a:p>
          <a:p>
            <a:pPr algn="ctr">
              <a:lnSpc>
                <a:spcPts val="3249"/>
              </a:lnSpc>
              <a:spcBef>
                <a:spcPct val="0"/>
              </a:spcBef>
            </a:pPr>
            <a:endParaRPr lang="en-US" sz="2499" spc="-74" dirty="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6F985F-482F-0FBA-57C5-393388690A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696468"/>
            <a:ext cx="7239000" cy="807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V="1">
            <a:off x="7520262" y="8785940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3016552"/>
            <a:ext cx="6424029" cy="2091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0"/>
              </a:lnSpc>
            </a:pPr>
            <a:r>
              <a:rPr lang="en-US" sz="9000" spc="-4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SAMPLE PREDICTION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934807"/>
            <a:ext cx="6342956" cy="163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3" lvl="1" indent="-269871" algn="ctr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predicts handwritten digit successfully</a:t>
            </a:r>
          </a:p>
          <a:p>
            <a:pPr marL="539743" lvl="1" indent="-269871" algn="ctr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Predicted Label matches Actual Label</a:t>
            </a:r>
          </a:p>
          <a:p>
            <a:pPr marL="539743" lvl="1" indent="-269871" algn="ctr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Demonstrates practical usability</a:t>
            </a:r>
          </a:p>
          <a:p>
            <a:pPr algn="ctr">
              <a:lnSpc>
                <a:spcPts val="3249"/>
              </a:lnSpc>
              <a:spcBef>
                <a:spcPct val="0"/>
              </a:spcBef>
            </a:pPr>
            <a:endParaRPr lang="en-US" sz="2499" spc="-74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D715C3-D5CC-13DA-11BE-A509D0163D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2515" y="1257300"/>
            <a:ext cx="7696785" cy="73039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V="1">
            <a:off x="2576440" y="8419091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3016552"/>
            <a:ext cx="6424029" cy="110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0"/>
              </a:lnSpc>
            </a:pPr>
            <a:r>
              <a:rPr lang="en-US" sz="9000" spc="-4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RESULTS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12677" y="5934807"/>
            <a:ext cx="5575003" cy="204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3" lvl="1" indent="-269871" algn="ctr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Training Accuracy: ~98%</a:t>
            </a:r>
          </a:p>
          <a:p>
            <a:pPr marL="539743" lvl="1" indent="-269871" algn="ctr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Test Accuracy: ~97.8%</a:t>
            </a:r>
          </a:p>
          <a:p>
            <a:pPr marL="539743" lvl="1" indent="-269871" algn="ctr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Strong classification performance</a:t>
            </a:r>
          </a:p>
          <a:p>
            <a:pPr marL="539743" lvl="1" indent="-269871" algn="ctr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Simple ANN model performs efficiently</a:t>
            </a:r>
          </a:p>
          <a:p>
            <a:pPr algn="ctr">
              <a:lnSpc>
                <a:spcPts val="3249"/>
              </a:lnSpc>
              <a:spcBef>
                <a:spcPct val="0"/>
              </a:spcBef>
            </a:pPr>
            <a:endParaRPr lang="en-US" sz="2499" spc="-74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V="1">
            <a:off x="2240162" y="4804332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3016552"/>
            <a:ext cx="6424029" cy="110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0"/>
              </a:lnSpc>
            </a:pPr>
            <a:r>
              <a:rPr lang="en-US" sz="9000" spc="-441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 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933917"/>
            <a:ext cx="7372549" cy="204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3" lvl="1" indent="-269871" algn="ctr">
              <a:lnSpc>
                <a:spcPts val="3249"/>
              </a:lnSpc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ANN successfully classified handwritten digits</a:t>
            </a:r>
          </a:p>
          <a:p>
            <a:pPr marL="539743" lvl="1" indent="-269871" algn="ctr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High accuracy achieved</a:t>
            </a:r>
          </a:p>
          <a:p>
            <a:pPr marL="539743" lvl="1" indent="-269871" algn="ctr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Neural Networks are effective for image classification</a:t>
            </a:r>
          </a:p>
          <a:p>
            <a:pPr marL="539743" lvl="1" indent="-269871" algn="ctr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7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Practical understanding of deep learning gained</a:t>
            </a:r>
          </a:p>
          <a:p>
            <a:pPr algn="ctr">
              <a:lnSpc>
                <a:spcPts val="3249"/>
              </a:lnSpc>
              <a:spcBef>
                <a:spcPct val="0"/>
              </a:spcBef>
            </a:pPr>
            <a:endParaRPr lang="en-US" sz="2499" spc="-74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5400000">
            <a:off x="-358858" y="4907320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-5400000" flipV="1">
            <a:off x="15399382" y="4907320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rot="-10800000">
            <a:off x="15921917" y="8100856"/>
            <a:ext cx="1337383" cy="1157444"/>
          </a:xfrm>
          <a:custGeom>
            <a:avLst/>
            <a:gdLst/>
            <a:ahLst/>
            <a:cxnLst/>
            <a:rect l="l" t="t" r="r" b="b"/>
            <a:pathLst>
              <a:path w="1337383" h="1157444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-10800000" flipH="1">
            <a:off x="1028700" y="8081538"/>
            <a:ext cx="1337383" cy="1157444"/>
          </a:xfrm>
          <a:custGeom>
            <a:avLst/>
            <a:gdLst/>
            <a:ahLst/>
            <a:cxnLst/>
            <a:rect l="l" t="t" r="r" b="b"/>
            <a:pathLst>
              <a:path w="1337383" h="1157444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 rot="-10800000">
            <a:off x="16996033" y="1028700"/>
            <a:ext cx="263267" cy="204391"/>
          </a:xfrm>
          <a:custGeom>
            <a:avLst/>
            <a:gdLst/>
            <a:ahLst/>
            <a:cxnLst/>
            <a:rect l="l" t="t" r="r" b="b"/>
            <a:pathLst>
              <a:path w="263267" h="204391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rot="-10800000" flipH="1">
            <a:off x="1028700" y="1028700"/>
            <a:ext cx="263267" cy="204391"/>
          </a:xfrm>
          <a:custGeom>
            <a:avLst/>
            <a:gdLst/>
            <a:ahLst/>
            <a:cxnLst/>
            <a:rect l="l" t="t" r="r" b="b"/>
            <a:pathLst>
              <a:path w="263267" h="204391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2835963" y="3447612"/>
            <a:ext cx="12616074" cy="3163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0"/>
              </a:lnSpc>
            </a:pPr>
            <a:r>
              <a:rPr lang="en-US" sz="19386" spc="-949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316</Words>
  <Application>Microsoft Office PowerPoint</Application>
  <PresentationFormat>Custom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Norwester</vt:lpstr>
      <vt:lpstr>Helvetica World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Black Modern Technology Presentation</dc:title>
  <cp:lastModifiedBy>shauryakaushal108@gmail.com</cp:lastModifiedBy>
  <cp:revision>5</cp:revision>
  <dcterms:created xsi:type="dcterms:W3CDTF">2006-08-16T00:00:00Z</dcterms:created>
  <dcterms:modified xsi:type="dcterms:W3CDTF">2026-02-28T10:32:13Z</dcterms:modified>
  <dc:identifier>DAHCbnMEV4Q</dc:identifier>
</cp:coreProperties>
</file>